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26"/>
  </p:notesMasterIdLst>
  <p:handoutMasterIdLst>
    <p:handoutMasterId r:id="rId27"/>
  </p:handoutMasterIdLst>
  <p:sldIdLst>
    <p:sldId id="1393" r:id="rId8"/>
    <p:sldId id="1800" r:id="rId9"/>
    <p:sldId id="1801" r:id="rId10"/>
    <p:sldId id="1707" r:id="rId11"/>
    <p:sldId id="1816" r:id="rId12"/>
    <p:sldId id="1836" r:id="rId13"/>
    <p:sldId id="1518" r:id="rId14"/>
    <p:sldId id="1824" r:id="rId15"/>
    <p:sldId id="1821" r:id="rId16"/>
    <p:sldId id="1826" r:id="rId17"/>
    <p:sldId id="1832" r:id="rId18"/>
    <p:sldId id="1834" r:id="rId19"/>
    <p:sldId id="1817" r:id="rId20"/>
    <p:sldId id="1815" r:id="rId21"/>
    <p:sldId id="1831" r:id="rId22"/>
    <p:sldId id="1835" r:id="rId23"/>
    <p:sldId id="1837" r:id="rId24"/>
    <p:sldId id="1750" r:id="rId25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393"/>
            <p14:sldId id="1800"/>
            <p14:sldId id="1801"/>
            <p14:sldId id="1707"/>
            <p14:sldId id="1816"/>
            <p14:sldId id="1836"/>
            <p14:sldId id="1518"/>
            <p14:sldId id="1824"/>
            <p14:sldId id="1821"/>
            <p14:sldId id="1826"/>
            <p14:sldId id="1832"/>
            <p14:sldId id="1834"/>
            <p14:sldId id="1817"/>
            <p14:sldId id="1815"/>
          </p14:sldIdLst>
        </p14:section>
        <p14:section name="Finalizando" id="{CF622469-3E87-46BA-8ED6-912C47B00EF3}">
          <p14:sldIdLst>
            <p14:sldId id="1831"/>
            <p14:sldId id="1835"/>
            <p14:sldId id="1837"/>
            <p14:sldId id="17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36896C-F711-4682-8EAE-FC8AC9DAC39C}" v="1698" dt="2025-08-20T18:28:52.689"/>
    <p1510:client id="{B47DCE5D-CDB6-27A6-09DB-752FF79438BF}" v="418" dt="2025-08-20T17:45: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42" autoAdjust="0"/>
    <p:restoredTop sz="79472" autoAdjust="0"/>
  </p:normalViewPr>
  <p:slideViewPr>
    <p:cSldViewPr>
      <p:cViewPr varScale="1">
        <p:scale>
          <a:sx n="73" d="100"/>
          <a:sy n="73" d="100"/>
        </p:scale>
        <p:origin x="754" y="283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83" d="100"/>
          <a:sy n="83" d="100"/>
        </p:scale>
        <p:origin x="232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commentAuthors" Target="comment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11/7/2025 9:50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‹nº›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11/7/2025 9:38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11/7/2025 9:38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F5E24-E170-7DA5-797D-63B9419A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08E02F1-CC48-1600-13E1-EDD9512EC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3C2294-6D00-70AB-5B32-1E9A41645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D873F75D-6A5E-02DC-69F7-F2F5E93CC81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2D550D-90E6-9443-25A9-827E7A108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CC0E5BB-2784-7852-29C2-8974A05C351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11/7/2025 9:38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CE9B2B-137A-FCEA-87AE-DF517B41EA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716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32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C0026-45AA-519F-346F-FFA37972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39378C6-A486-2AF8-DBA6-64993571B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6E49CB2-6730-1B88-A5B4-D0A24AD76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14D28189-4AD9-B890-A2D9-3806E5AF5F5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BA62E7-40F1-07AE-BCE5-F492E4C3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B7531B03-A448-1A00-8858-049C8CD28897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11/7/2025 9:50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22082E-8AA7-AE50-D0B0-F4BAEF2219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198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5252F-B109-F2AF-5839-C41852C3A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076E2F0-59ED-4FF3-4194-E9C42C61B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242404D-1253-E937-7BBA-90273AA0A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6E347C1A-B67F-80C3-AC4F-4362A2379C9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058562-4609-8DC8-A6C0-FABD2BF3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B4937C77-E0DE-42D3-BD62-DE9B6081A0F7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11/7/2025 9:53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A44E95-673A-5070-0FEA-2D191AC8CA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372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11/7/2025 9:38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0E1B-9B13-AB01-EB13-9FA92E46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64E6F95-F0F4-8AEF-81D0-C0978A51F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B74A610-C848-83D2-D843-C3A4DE52A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04D361A1-9C79-0076-B4B2-FC820A92999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001309-B3AC-9B6C-EE64-925EC2D8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2BC5179-4CC5-B5DF-5FEE-B51ABD2BA94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11/7/2025 9:38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C7A93F-74AC-2D6E-C48F-1397AAB227D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087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DB979-83B4-44A6-1009-80F883F99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7BA230-6F1D-2512-BD51-9AFD352C9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5B5DA1-0621-7263-CC52-DCCAAD3D5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0E614D36-D1AA-B41D-FA4C-33E0F69BDE6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ADC170-C085-12D2-1CC7-E29A0EE4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8323DF6-249B-E215-9595-868228D96B1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11/7/2025 9:38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523ABC-E109-34DE-9C4F-A948410C77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2916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EA152-D77A-36BB-E89C-AEB414060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106164C-BC18-FA15-9FA7-3677EE90F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8146C92-235A-01EA-78EE-5797B3962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CC4E3838-196D-A233-595A-708CEEFE095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4E9D7C-3217-39DE-4E0B-A979DB2B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2A71E4F-1442-AE35-1CD9-05ED65F322E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11/7/2025 9:38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36D033-0E9E-7245-FC1D-16E07775EC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10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B5801-24F0-0AD4-D6D9-FD0A75CF1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80351F7-D255-FD59-F14A-7392A30FC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0B5A389-BC5F-49F2-57DF-D14F40725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AEB22021-923F-BC2F-499F-7533AFE7809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DA3C1F-D65D-E30C-8793-C9DD98F87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F242EA85-9B51-CBB8-6ACD-D905EC061F8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11/7/2025 9:38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2C17EA-2F62-B72E-A996-22DC6FC49A2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5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02FA0-560D-BC3A-1DDE-2B2766821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F13CC31-92CD-5C01-CC90-38B62E740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340EABE-B5F5-5A95-97D2-035A17B91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D9EE0D0F-FD5A-3C7E-C20E-D632A4A4D3B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C4678F-3D8D-D125-7F38-57B8509CF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637619F-D08F-6893-EEDD-07F02ECD8D6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11/7/2025 9:38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496D5F-F9BC-0BD5-6C90-7FC7EF2D691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53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5B71-82AC-A307-2167-063F5A62F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A16B90E-C3B7-A917-FFAC-0891A4B36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6C1598A-0786-D0F9-9CC2-195FFDBB7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4987A26C-C085-8164-222B-1CD0BFEC908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9A6D47-9457-40B9-A683-8672E2518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D7977A7B-4553-A9BD-FBD8-B8FA4CE2074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11/7/2025 9:38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D5FA0C-94DF-0680-148A-C981343B99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584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BF927-ACA4-F9C3-FA07-4B9F7318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8A4CAE-93EF-BB18-2C57-A1AA2F4FA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DA57D6F-CB28-B9D8-1A3C-78DC7C613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22240C4-2154-4D09-4525-BC0CA57CF44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AFC962-3A65-E210-AACB-AAA0900FF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B23C1C8-0B90-8A22-6787-70B0DA9FEF19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11/7/2025 9:38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6547A1-C2EB-B88C-C2EE-6B3839C1E8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37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7CD5F-A957-2486-E570-13ABF462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0E150-6C7C-663D-CB5B-BC5091184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F6217-4B5E-9776-6A5D-73A904F33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61736D9-C4CA-341C-5F63-DB9D4283AEB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DF603-05E7-2C4F-FF82-9C13ECE11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4FE8665-83D1-12FB-6702-A61E87F87C9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11/7/2025 9:38 PM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AC580-6BD2-13A1-AE9E-970FEF5853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830239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F6452-5B95-EC8D-AEAB-AD40D9D8F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40F3744-DC47-5ADA-DAE6-B4E7D294C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C523236-D40C-00AE-D22C-4A73F9629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F49F33CD-63C5-E9DB-3C71-72FA5B1AB9E6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23EC11-B895-0671-45F1-862B5B78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6AA763D7-A70F-D2B4-8895-7D349A01F256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11/7/2025 9:38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5E6F72-EF1A-BB79-D6A9-72FFC467BDB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2826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8D910-1852-DA62-6006-8F8785310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B95310C-C8B2-273E-074E-1D4EAC54A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769B94-131D-798A-5D32-554043F10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7AB1270F-F25A-CEFE-65DE-BBD7E1BAE27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111E95-5B1D-55C4-1F76-91950ED36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1597B1D-847A-7C35-B91D-93C98F92965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11/7/2025 9:58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C017F4-61A5-253D-C4F6-B097B860A3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6561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11/7/2025 9:38 PM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15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17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microsoft.com/office/2007/relationships/hdphoto" Target="../media/hdphoto1.wdp"/><Relationship Id="rId9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5982" y="220662"/>
            <a:ext cx="11201400" cy="2297169"/>
          </a:xfrm>
        </p:spPr>
        <p:txBody>
          <a:bodyPr/>
          <a:lstStyle/>
          <a:p>
            <a:r>
              <a:rPr lang="pt-BR" b="1" dirty="0"/>
              <a:t>Desenvolvendo MCP Servers</a:t>
            </a:r>
            <a:br>
              <a:rPr lang="pt-BR" b="1" dirty="0"/>
            </a:br>
            <a:r>
              <a:rPr lang="pt-BR" sz="4400" b="1" dirty="0"/>
              <a:t>Integrando com facilidade as mais variadas tecnologias a soluções de </a:t>
            </a:r>
            <a:r>
              <a:rPr lang="pt-BR" sz="4400" b="1"/>
              <a:t>Inteligência Artificial!</a:t>
            </a:r>
            <a:endParaRPr lang="pt-BR" sz="320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93166F4-0C26-A656-FAB3-8DF7787124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9280" y="3116262"/>
            <a:ext cx="6111478" cy="1872045"/>
          </a:xfrm>
        </p:spPr>
        <p:txBody>
          <a:bodyPr/>
          <a:lstStyle/>
          <a:p>
            <a:r>
              <a:rPr lang="en-US" sz="2800" b="1" dirty="0"/>
              <a:t>Renato </a:t>
            </a:r>
            <a:r>
              <a:rPr lang="en-US" sz="2800" b="1" dirty="0" err="1"/>
              <a:t>Groffe</a:t>
            </a:r>
            <a:endParaRPr lang="en-US" sz="2800" b="1" dirty="0"/>
          </a:p>
          <a:p>
            <a:r>
              <a:rPr lang="en-US" sz="2400" dirty="0"/>
              <a:t>Microsoft MVP, Docker Captain, MTAC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renatogroffe</a:t>
            </a:r>
            <a:br>
              <a:rPr lang="en-US" sz="2400" dirty="0"/>
            </a:br>
            <a:r>
              <a:rPr lang="en-US" sz="2400" dirty="0"/>
              <a:t>renatogroffe.medium.com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5EB898B6-BD41-1487-85F9-339746E47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837" y="2735262"/>
            <a:ext cx="2451515" cy="2451515"/>
          </a:xfrm>
          <a:prstGeom prst="rect">
            <a:avLst/>
          </a:prstGeom>
        </p:spPr>
      </p:pic>
      <p:pic>
        <p:nvPicPr>
          <p:cNvPr id="3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ECB298C-7329-1E9C-C229-A3D783383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" y="592075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EEF0434-D7BF-4138-8992-B30776645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7055" y="5793717"/>
            <a:ext cx="1750075" cy="1098828"/>
          </a:xfrm>
          <a:prstGeom prst="rect">
            <a:avLst/>
          </a:prstGeom>
        </p:spPr>
      </p:pic>
      <p:pic>
        <p:nvPicPr>
          <p:cNvPr id="8" name="Imagem 7" descr="Uma imagem contendo desenho&#10;&#10;Descrição gerada automaticamente">
            <a:extLst>
              <a:ext uri="{FF2B5EF4-FFF2-40B4-BE49-F238E27FC236}">
                <a16:creationId xmlns:a16="http://schemas.microsoft.com/office/drawing/2014/main" id="{16161D97-AF2A-C8BD-724C-AAB491C9F06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590" r="25492"/>
          <a:stretch/>
        </p:blipFill>
        <p:spPr>
          <a:xfrm>
            <a:off x="2713037" y="5946344"/>
            <a:ext cx="2405044" cy="785896"/>
          </a:xfrm>
          <a:prstGeom prst="rect">
            <a:avLst/>
          </a:prstGeom>
        </p:spPr>
      </p:pic>
      <p:pic>
        <p:nvPicPr>
          <p:cNvPr id="9" name="Imagem 8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430A2A96-6303-1D01-1E82-95DBB973CC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1148" y="5738445"/>
            <a:ext cx="1154100" cy="11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559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820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APISEC U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Ambassador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614" y="472111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" y="5435311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057" y="5110023"/>
            <a:ext cx="1403451" cy="140345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9637" y="5038743"/>
            <a:ext cx="1600799" cy="1600799"/>
          </a:xfrm>
          <a:prstGeom prst="rect">
            <a:avLst/>
          </a:prstGeom>
        </p:spPr>
      </p:pic>
      <p:pic>
        <p:nvPicPr>
          <p:cNvPr id="7" name="Imagem 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CAB713EA-9E3B-51D0-845C-81E073A9D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3303" y="4727328"/>
            <a:ext cx="1699365" cy="1699365"/>
          </a:xfrm>
          <a:prstGeom prst="rect">
            <a:avLst/>
          </a:prstGeom>
        </p:spPr>
      </p:pic>
      <p:pic>
        <p:nvPicPr>
          <p:cNvPr id="4" name="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D58C7CEE-9AAE-6B90-9DC4-80CD1A771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5237" y="3291903"/>
            <a:ext cx="2768301" cy="276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8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DDCB3-688A-6AC7-A3ED-556E7C74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9A32D-2B68-7979-A26C-4D640C33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B73AABD-0E0C-52EB-E837-CB826874F805}"/>
              </a:ext>
            </a:extLst>
          </p:cNvPr>
          <p:cNvSpPr>
            <a:spLocks noGrp="1"/>
          </p:cNvSpPr>
          <p:nvPr/>
        </p:nvSpPr>
        <p:spPr>
          <a:xfrm>
            <a:off x="992553" y="3617497"/>
            <a:ext cx="10483484" cy="6278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200" b="1" dirty="0">
                <a:solidFill>
                  <a:schemeClr val="bg1"/>
                </a:solidFill>
              </a:rPr>
              <a:t>github.com/renatogroffe/mcp_devreferencias-2025</a:t>
            </a:r>
            <a:endParaRPr lang="pt-BR" sz="2800" b="1" dirty="0">
              <a:solidFill>
                <a:schemeClr val="bg1"/>
              </a:solidFill>
            </a:endParaRPr>
          </a:p>
        </p:txBody>
      </p:sp>
      <p:pic>
        <p:nvPicPr>
          <p:cNvPr id="10" name="Imagem 9" descr="Ícone&#10;&#10;O conteúdo gerado por IA pode estar incorreto.">
            <a:extLst>
              <a:ext uri="{FF2B5EF4-FFF2-40B4-BE49-F238E27FC236}">
                <a16:creationId xmlns:a16="http://schemas.microsoft.com/office/drawing/2014/main" id="{56905F7C-33EC-85BA-3EB9-983770707B8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9466" y="4609125"/>
            <a:ext cx="1757542" cy="1757542"/>
          </a:xfrm>
          <a:prstGeom prst="rect">
            <a:avLst/>
          </a:prstGeom>
        </p:spPr>
      </p:pic>
      <p:pic>
        <p:nvPicPr>
          <p:cNvPr id="12" name="Imagem 11" descr="Código QR&#10;&#10;O conteúdo gerado por IA pode estar incorreto.">
            <a:extLst>
              <a:ext uri="{FF2B5EF4-FFF2-40B4-BE49-F238E27FC236}">
                <a16:creationId xmlns:a16="http://schemas.microsoft.com/office/drawing/2014/main" id="{6B086F1C-D2A2-27BC-2004-AB19816B2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913" y="1121462"/>
            <a:ext cx="2404648" cy="2404648"/>
          </a:xfrm>
          <a:prstGeom prst="rect">
            <a:avLst/>
          </a:prstGeom>
        </p:spPr>
      </p:pic>
      <p:sp>
        <p:nvSpPr>
          <p:cNvPr id="3" name="Nosso Propsito">
            <a:extLst>
              <a:ext uri="{FF2B5EF4-FFF2-40B4-BE49-F238E27FC236}">
                <a16:creationId xmlns:a16="http://schemas.microsoft.com/office/drawing/2014/main" id="{9558F894-6D1D-A84A-FE08-9BDE434EEDFD}"/>
              </a:ext>
            </a:extLst>
          </p:cNvPr>
          <p:cNvSpPr/>
          <p:nvPr/>
        </p:nvSpPr>
        <p:spPr>
          <a:xfrm>
            <a:off x="7970837" y="1887075"/>
            <a:ext cx="510010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642974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439861"/>
            <a:ext cx="11426521" cy="4980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dirty="0">
                <a:solidFill>
                  <a:schemeClr val="tx1">
                    <a:lumMod val="50000"/>
                  </a:schemeClr>
                </a:solidFill>
              </a:rPr>
              <a:t>Eventos online e gratuitos</a:t>
            </a:r>
            <a:br>
              <a:rPr lang="pt-BR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pt-BR" sz="3200" b="1" u="sng" dirty="0">
                <a:solidFill>
                  <a:schemeClr val="tx1">
                    <a:lumMod val="50000"/>
                  </a:schemeClr>
                </a:solidFill>
              </a:rPr>
              <a:t>https://www.meetup.com/dotnet-Sao-Paulo/</a:t>
            </a:r>
          </a:p>
          <a:p>
            <a:pPr marL="0" indent="0">
              <a:lnSpc>
                <a:spcPct val="100000"/>
              </a:lnSpc>
              <a:buNone/>
            </a:pPr>
            <a:endParaRPr lang="pt-BR" sz="3200" b="1" u="sng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10820400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Participe de nossas iniciativas gratuitas</a:t>
            </a:r>
          </a:p>
        </p:txBody>
      </p:sp>
      <p:pic>
        <p:nvPicPr>
          <p:cNvPr id="5" name="Imagem 4" descr="Código QR&#10;&#10;Descrição gerada automaticamente">
            <a:extLst>
              <a:ext uri="{FF2B5EF4-FFF2-40B4-BE49-F238E27FC236}">
                <a16:creationId xmlns:a16="http://schemas.microsoft.com/office/drawing/2014/main" id="{FB8779B3-73CC-6E2D-176A-FE27BD34E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137" y="3497262"/>
            <a:ext cx="2362200" cy="23622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BED8B22-7603-A627-207A-9628AA026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837" y="1363662"/>
            <a:ext cx="2113260" cy="132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3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D98BA-88D4-9686-83A1-33083A248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8855D-185C-79EB-DF0D-2BAF797C5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55" y="296862"/>
            <a:ext cx="11889564" cy="917575"/>
          </a:xfrm>
        </p:spPr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Certificações Gratuitas em Segurança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91FA976-1BB4-CDE7-AC21-92068D1C197C}"/>
              </a:ext>
            </a:extLst>
          </p:cNvPr>
          <p:cNvSpPr>
            <a:spLocks noGrp="1"/>
          </p:cNvSpPr>
          <p:nvPr/>
        </p:nvSpPr>
        <p:spPr>
          <a:xfrm>
            <a:off x="1227137" y="3878262"/>
            <a:ext cx="9982201" cy="6832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dirty="0">
                <a:solidFill>
                  <a:schemeClr val="bg1"/>
                </a:solidFill>
              </a:rPr>
              <a:t>www.apisecuniversity.com/#courses</a:t>
            </a:r>
            <a:endParaRPr lang="pt-BR" sz="3200" b="1" dirty="0">
              <a:solidFill>
                <a:schemeClr val="bg1"/>
              </a:solidFill>
            </a:endParaRPr>
          </a:p>
        </p:txBody>
      </p:sp>
      <p:pic>
        <p:nvPicPr>
          <p:cNvPr id="6" name="Imagem 5" descr="Uma imagem contendo objeto, relógio, placar, lendo&#10;&#10;O conteúdo gerado por IA pode estar incorreto.">
            <a:extLst>
              <a:ext uri="{FF2B5EF4-FFF2-40B4-BE49-F238E27FC236}">
                <a16:creationId xmlns:a16="http://schemas.microsoft.com/office/drawing/2014/main" id="{816198DA-D23A-F5F1-B5BA-6881527B6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237" y="4852294"/>
            <a:ext cx="4326096" cy="1635264"/>
          </a:xfrm>
          <a:prstGeom prst="rect">
            <a:avLst/>
          </a:prstGeom>
        </p:spPr>
      </p:pic>
      <p:pic>
        <p:nvPicPr>
          <p:cNvPr id="9" name="Imagem 8" descr="Código QR&#10;&#10;O conteúdo gerado por IA pode estar incorreto.">
            <a:extLst>
              <a:ext uri="{FF2B5EF4-FFF2-40B4-BE49-F238E27FC236}">
                <a16:creationId xmlns:a16="http://schemas.microsoft.com/office/drawing/2014/main" id="{3A00999C-5C0C-5787-9730-01AF7B604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160" y="1214437"/>
            <a:ext cx="2508250" cy="250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7461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41014-0C1F-A6A2-E8F4-965C7EA59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38661-E16F-C29D-AA13-06CB3006C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55" y="296862"/>
            <a:ext cx="11889564" cy="917575"/>
          </a:xfrm>
        </p:spPr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Certificações Gratuitas em Segurança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DA7508A8-555D-DEFD-852F-1D314CDAD7DC}"/>
              </a:ext>
            </a:extLst>
          </p:cNvPr>
          <p:cNvSpPr>
            <a:spLocks noGrp="1"/>
          </p:cNvSpPr>
          <p:nvPr/>
        </p:nvSpPr>
        <p:spPr>
          <a:xfrm>
            <a:off x="1227137" y="5861998"/>
            <a:ext cx="9982201" cy="6832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dirty="0">
                <a:solidFill>
                  <a:schemeClr val="bg1"/>
                </a:solidFill>
              </a:rPr>
              <a:t>www.apisecuniversity.com/#courses</a:t>
            </a:r>
            <a:endParaRPr lang="pt-BR" sz="3200" b="1" dirty="0">
              <a:solidFill>
                <a:schemeClr val="bg1"/>
              </a:solidFill>
            </a:endParaRPr>
          </a:p>
        </p:txBody>
      </p:sp>
      <p:pic>
        <p:nvPicPr>
          <p:cNvPr id="9" name="Imagem 8" descr="Código QR&#10;&#10;O conteúdo gerado por IA pode estar incorreto.">
            <a:extLst>
              <a:ext uri="{FF2B5EF4-FFF2-40B4-BE49-F238E27FC236}">
                <a16:creationId xmlns:a16="http://schemas.microsoft.com/office/drawing/2014/main" id="{07BE8C6B-7E6B-DBD8-A7B6-E6B9E5739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37" y="1560075"/>
            <a:ext cx="3874373" cy="3874373"/>
          </a:xfrm>
          <a:prstGeom prst="rect">
            <a:avLst/>
          </a:prstGeom>
        </p:spPr>
      </p:pic>
      <p:pic>
        <p:nvPicPr>
          <p:cNvPr id="5" name="Imagem 4" descr="Placa azul com letras brancas em fundo preto&#10;&#10;O conteúdo gerado por IA pode estar incorreto.">
            <a:extLst>
              <a:ext uri="{FF2B5EF4-FFF2-40B4-BE49-F238E27FC236}">
                <a16:creationId xmlns:a16="http://schemas.microsoft.com/office/drawing/2014/main" id="{88B4FD54-50BB-1727-CB01-4891E62ED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237" y="1363662"/>
            <a:ext cx="3874374" cy="387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173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519205"/>
            <a:ext cx="11810999" cy="1902059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MCP: uma visão geral</a:t>
            </a:r>
            <a:endParaRPr lang="pt-B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Um exemplo de implementação de um MCP Server</a:t>
            </a: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Exemplos práticos de uso</a:t>
            </a:r>
            <a:endParaRPr lang="pt-BR" dirty="0"/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F77A16E0-3AA3-5DB7-1894-6DE324C6B4B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9466" y="4609125"/>
            <a:ext cx="1757542" cy="175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9069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1E85D-263C-3C80-8BED-DD8321AF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F94C3-8BE8-C5F2-9E16-2ABE55CC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627CA1-1460-0AB0-5B37-8B577DD250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744662"/>
            <a:ext cx="7315200" cy="3631763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Model </a:t>
            </a:r>
            <a:r>
              <a:rPr lang="pt-BR" sz="2800" b="1" dirty="0" err="1">
                <a:solidFill>
                  <a:srgbClr val="494949"/>
                </a:solidFill>
              </a:rPr>
              <a:t>Context</a:t>
            </a:r>
            <a:r>
              <a:rPr lang="pt-BR" sz="2800" b="1" dirty="0">
                <a:solidFill>
                  <a:srgbClr val="494949"/>
                </a:solidFill>
              </a:rPr>
              <a:t> </a:t>
            </a:r>
            <a:r>
              <a:rPr lang="pt-BR" sz="2800" b="1" dirty="0" err="1">
                <a:solidFill>
                  <a:srgbClr val="494949"/>
                </a:solidFill>
              </a:rPr>
              <a:t>Protocol</a:t>
            </a:r>
            <a:endParaRPr lang="pt-BR" sz="2800" b="1" dirty="0" err="1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Anunciado pela </a:t>
            </a:r>
            <a:r>
              <a:rPr lang="pt-BR" sz="2800" b="1" dirty="0" err="1">
                <a:solidFill>
                  <a:srgbClr val="494949"/>
                </a:solidFill>
                <a:cs typeface="Segoe UI Light"/>
              </a:rPr>
              <a:t>Anthropic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 em 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Novembro/2024</a:t>
            </a:r>
            <a:endParaRPr lang="pt-BR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Uma 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padronização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 para simplificar a 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integração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 das mais variadas soluções com 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modelos de Inteligência Artificial</a:t>
            </a: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6A610AA7-3EF9-9798-DAFB-ED13160AB79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0437" y="2072172"/>
            <a:ext cx="2976742" cy="29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1983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7C0CD-759D-9F22-9F98-9DDBDE50A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DA6FD-B992-D4A0-31F4-E5A00B4AE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2CAF56-ACD5-C567-86CE-045323DE54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744662"/>
            <a:ext cx="7315200" cy="4191917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Analogia com uma 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"porta USB"</a:t>
            </a:r>
            <a:endParaRPr lang="pt-BR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Protocolo aberto </a:t>
            </a: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que enfatiza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 flexibilidade</a:t>
            </a:r>
            <a:endParaRPr lang="pt-BR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Comunicação via 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STDIO x HTTP/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Streams</a:t>
            </a:r>
            <a:endParaRPr lang="pt-BR" sz="28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Suporte a desenvolvimento nas principais </a:t>
            </a:r>
            <a:r>
              <a:rPr lang="pt-BR" sz="2800" dirty="0" err="1">
                <a:solidFill>
                  <a:srgbClr val="494949"/>
                </a:solidFill>
                <a:ea typeface="+mj-lt"/>
                <a:cs typeface="+mj-lt"/>
              </a:rPr>
              <a:t>stacks</a:t>
            </a: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: 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.NET, Java, Node/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Typescript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, Python, Go, Swift, 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Kotlin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, Ruby...</a:t>
            </a: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23B21264-AF6C-E4A0-D71E-0CFFCD2D773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0437" y="2072172"/>
            <a:ext cx="2976742" cy="29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5807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FCF09-8A3B-70DB-AFAE-180D17207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80620-0D39-4DD4-360E-A7231E8E8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511E3B-D003-7CC0-AB92-20CA1C987A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731775"/>
            <a:ext cx="7315200" cy="5281446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MCPs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 Servers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 costumam ser distribuídos como </a:t>
            </a:r>
            <a:r>
              <a:rPr lang="pt-BR" sz="2400" dirty="0" err="1">
                <a:solidFill>
                  <a:srgbClr val="494949"/>
                </a:solidFill>
                <a:ea typeface="+mj-lt"/>
                <a:cs typeface="+mj-lt"/>
              </a:rPr>
              <a:t>packages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 (principalmente </a:t>
            </a:r>
            <a:r>
              <a:rPr lang="pt-BR" sz="2400" dirty="0" err="1">
                <a:solidFill>
                  <a:srgbClr val="494949"/>
                </a:solidFill>
                <a:ea typeface="+mj-lt"/>
                <a:cs typeface="+mj-lt"/>
              </a:rPr>
              <a:t>npm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) ou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imagens Docker</a:t>
            </a:r>
            <a:endParaRPr lang="pt-BR" sz="2400" b="1" dirty="0">
              <a:gradFill>
                <a:gsLst>
                  <a:gs pos="1250">
                    <a:srgbClr val="D83B01"/>
                  </a:gs>
                  <a:gs pos="99000">
                    <a:srgbClr val="D83B01"/>
                  </a:gs>
                </a:gsLst>
                <a:lin ang="5400000" scaled="0"/>
              </a:gra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A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Docker 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mantém um catálogo de </a:t>
            </a: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MCPs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 disponibilizados via container e confiáveis – MCP Hub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Suportado em soluções de API Gateway como o</a:t>
            </a:r>
            <a:b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</a:b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Azure API Management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Fácil integração com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Visual Studio </a:t>
            </a: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Code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/GitHub </a:t>
            </a: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Copilot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,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Claude 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e outras s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oluções de IA que ofereçam funcionalidades de chat</a:t>
            </a:r>
            <a:endParaRPr lang="pt-BR" sz="2400" b="1" dirty="0">
              <a:gradFill>
                <a:gsLst>
                  <a:gs pos="1250">
                    <a:srgbClr val="D83B01"/>
                  </a:gs>
                  <a:gs pos="99000">
                    <a:srgbClr val="D83B01"/>
                  </a:gs>
                </a:gsLst>
                <a:lin ang="5400000" scaled="0"/>
              </a:gradFill>
              <a:cs typeface="Segoe UI Ligh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86240406-331D-F8B7-79C8-32D2174100B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0437" y="2072172"/>
            <a:ext cx="2976742" cy="29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818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D8B25-EE66-C324-81F1-E99729C1A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4A9E2-2F5B-3011-F766-F9E6B2F6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67DC48-BEE4-C7F1-68B1-EB29F1755C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731775"/>
            <a:ext cx="7315200" cy="3459409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MCPs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 Servers</a:t>
            </a: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 costumam ser distribuídos como </a:t>
            </a:r>
            <a:r>
              <a:rPr lang="pt-BR" sz="2800" dirty="0" err="1">
                <a:solidFill>
                  <a:srgbClr val="494949"/>
                </a:solidFill>
                <a:ea typeface="+mj-lt"/>
                <a:cs typeface="+mj-lt"/>
              </a:rPr>
              <a:t>packages</a:t>
            </a: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 (principalmente 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npm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, 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pip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, 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NuGet</a:t>
            </a: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), 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imagens Docker</a:t>
            </a: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 ou, até mesmo, como um 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executável</a:t>
            </a:r>
            <a:endParaRPr lang="pt-BR" sz="2800" b="1" dirty="0">
              <a:gradFill>
                <a:gsLst>
                  <a:gs pos="1250">
                    <a:srgbClr val="D83B01"/>
                  </a:gs>
                  <a:gs pos="99000">
                    <a:srgbClr val="D83B01"/>
                  </a:gs>
                </a:gsLst>
                <a:lin ang="5400000" scaled="0"/>
              </a:gra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A 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Docker </a:t>
            </a: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mantém um catálogo de 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MCPs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 disponibilizados via container e confiáveis – MCP Hub</a:t>
            </a: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903C41E9-6529-47F8-5282-A0BE9964F60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0437" y="2072172"/>
            <a:ext cx="2976742" cy="29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48855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657CE-2465-15D9-AA14-EE1A793F7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B5711A-4024-4B75-EF46-0D27C2B81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5DDD76-C1A2-9952-AEF1-F4379FD968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731775"/>
            <a:ext cx="7315200" cy="4136517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Suportado em soluções de API Gateway como o</a:t>
            </a:r>
            <a:b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</a:b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Azure API Management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Fácil integração com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Visual Studio </a:t>
            </a: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Code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/GitHub </a:t>
            </a: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Copilot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,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Claude 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e outras s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oluções de IA que ofereçam funcionalidades de chat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494949"/>
                </a:solidFill>
                <a:cs typeface="Segoe UI Light"/>
              </a:rPr>
              <a:t>Instrumentação/</a:t>
            </a:r>
            <a:r>
              <a:rPr lang="pt-BR" sz="2400" b="1" dirty="0" err="1">
                <a:solidFill>
                  <a:srgbClr val="494949"/>
                </a:solidFill>
                <a:cs typeface="Segoe UI Light"/>
              </a:rPr>
              <a:t>observabilidade</a:t>
            </a:r>
            <a:r>
              <a:rPr lang="pt-BR" sz="2400" dirty="0">
                <a:solidFill>
                  <a:srgbClr val="494949"/>
                </a:solidFill>
                <a:cs typeface="Segoe UI Light"/>
              </a:rPr>
              <a:t> com </a:t>
            </a:r>
            <a:r>
              <a:rPr lang="pt-BR" sz="2400" b="1" dirty="0" err="1">
                <a:solidFill>
                  <a:srgbClr val="494949"/>
                </a:solidFill>
                <a:cs typeface="Segoe UI Light"/>
              </a:rPr>
              <a:t>OpenTelemetry</a:t>
            </a:r>
            <a:r>
              <a:rPr lang="pt-BR" sz="2400" dirty="0">
                <a:solidFill>
                  <a:srgbClr val="494949"/>
                </a:solidFill>
                <a:cs typeface="Segoe UI Light"/>
              </a:rPr>
              <a:t> (</a:t>
            </a:r>
            <a:r>
              <a:rPr lang="pt-BR" sz="2400" b="1" dirty="0" err="1">
                <a:solidFill>
                  <a:srgbClr val="494949"/>
                </a:solidFill>
                <a:cs typeface="Segoe UI Light"/>
              </a:rPr>
              <a:t>Grafana</a:t>
            </a:r>
            <a:r>
              <a:rPr lang="pt-BR" sz="2400" b="1" dirty="0">
                <a:solidFill>
                  <a:srgbClr val="494949"/>
                </a:solidFill>
                <a:cs typeface="Segoe UI Light"/>
              </a:rPr>
              <a:t>, Jaeger e </a:t>
            </a:r>
            <a:r>
              <a:rPr lang="pt-BR" sz="2400" b="1" dirty="0" err="1">
                <a:solidFill>
                  <a:srgbClr val="494949"/>
                </a:solidFill>
                <a:cs typeface="Segoe UI Light"/>
              </a:rPr>
              <a:t>Application</a:t>
            </a:r>
            <a:r>
              <a:rPr lang="pt-BR" sz="2400" b="1" dirty="0">
                <a:solidFill>
                  <a:srgbClr val="494949"/>
                </a:solidFill>
                <a:cs typeface="Segoe UI Light"/>
              </a:rPr>
              <a:t> Insights</a:t>
            </a:r>
            <a:r>
              <a:rPr lang="pt-BR" sz="2400" dirty="0">
                <a:solidFill>
                  <a:srgbClr val="494949"/>
                </a:solidFill>
                <a:cs typeface="Segoe UI Light"/>
              </a:rPr>
              <a:t> são algumas das opções de monitoramento)</a:t>
            </a:r>
            <a:endParaRPr lang="pt-BR" sz="2400" dirty="0">
              <a:gradFill>
                <a:gsLst>
                  <a:gs pos="1250">
                    <a:srgbClr val="D83B01"/>
                  </a:gs>
                  <a:gs pos="99000">
                    <a:srgbClr val="D83B01"/>
                  </a:gs>
                </a:gsLst>
                <a:lin ang="5400000" scaled="0"/>
              </a:gradFill>
              <a:cs typeface="Segoe UI Ligh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CE78D9CA-2406-9DEF-7FEC-E0B15347DA1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0437" y="2072172"/>
            <a:ext cx="2976742" cy="29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034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32A1-5022-69D7-ED00-04D02EEA3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35DFF-16FA-9D5C-7C89-6AB54C373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pic>
        <p:nvPicPr>
          <p:cNvPr id="7" name="Imagem 6" descr="https://learn.microsoft.com/en-us/dotnet/ai/media/mcp/model-context-protocol-architecture-diagram.png">
            <a:extLst>
              <a:ext uri="{FF2B5EF4-FFF2-40B4-BE49-F238E27FC236}">
                <a16:creationId xmlns:a16="http://schemas.microsoft.com/office/drawing/2014/main" id="{89D488E2-5518-3E6D-97B3-0345FD3A0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72" y="1412580"/>
            <a:ext cx="11629155" cy="4950762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672F936-805A-3464-E8C6-DED9AC0F647D}"/>
              </a:ext>
            </a:extLst>
          </p:cNvPr>
          <p:cNvSpPr txBox="1">
            <a:spLocks/>
          </p:cNvSpPr>
          <p:nvPr/>
        </p:nvSpPr>
        <p:spPr>
          <a:xfrm>
            <a:off x="826371" y="5583255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pt-BR" sz="2400" b="1">
                <a:solidFill>
                  <a:schemeClr val="accent3">
                    <a:lumMod val="75000"/>
                  </a:schemeClr>
                </a:solidFill>
                <a:cs typeface="Segoe UI"/>
              </a:rPr>
              <a:t>Fonte: Microsoft</a:t>
            </a:r>
            <a:endParaRPr lang="pt-BR" sz="2400" b="1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32643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6DDCD-A12A-02A5-F00D-EE28511E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50085-E9E2-4651-B6AC-01CC0A71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 Light"/>
              </a:rPr>
              <a:t>Implementando MCPs com .NET</a:t>
            </a:r>
            <a:endParaRPr lang="pt-BR">
              <a:solidFill>
                <a:schemeClr val="accent3">
                  <a:lumMod val="75000"/>
                </a:schemeClr>
              </a:solidFill>
              <a:cs typeface="Segoe UI Light"/>
            </a:endParaRPr>
          </a:p>
          <a:p>
            <a:endParaRPr lang="pt-B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F062D3-3D68-72BB-E568-5DEA5495D4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744662"/>
            <a:ext cx="8686799" cy="3208571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Novos </a:t>
            </a:r>
            <a:r>
              <a:rPr lang="pt-BR" sz="2800" b="1" dirty="0" err="1">
                <a:solidFill>
                  <a:srgbClr val="494949"/>
                </a:solidFill>
              </a:rPr>
              <a:t>templates</a:t>
            </a:r>
            <a:r>
              <a:rPr lang="pt-BR" sz="2800" b="1" dirty="0">
                <a:solidFill>
                  <a:srgbClr val="494949"/>
                </a:solidFill>
              </a:rPr>
              <a:t> </a:t>
            </a:r>
            <a:r>
              <a:rPr lang="pt-BR" sz="2800" dirty="0">
                <a:solidFill>
                  <a:srgbClr val="494949"/>
                </a:solidFill>
              </a:rPr>
              <a:t>para IA </a:t>
            </a:r>
            <a:r>
              <a:rPr lang="pt-BR" sz="2800" b="1" dirty="0">
                <a:solidFill>
                  <a:srgbClr val="494949"/>
                </a:solidFill>
              </a:rPr>
              <a:t>(ainda em Preview):</a:t>
            </a:r>
            <a:endParaRPr lang="pt-BR" sz="2800" b="1" dirty="0">
              <a:solidFill>
                <a:srgbClr val="494949"/>
              </a:solidFill>
              <a:cs typeface="Segoe UI Light"/>
            </a:endParaRPr>
          </a:p>
          <a:p>
            <a:br>
              <a:rPr lang="pt-BR" sz="2800" dirty="0">
                <a:solidFill>
                  <a:srgbClr val="494949"/>
                </a:solidFill>
                <a:cs typeface="Segoe UI Light"/>
              </a:rPr>
            </a:b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    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dotnet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new 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install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Microsoft.Extensions.AI.Templates</a:t>
            </a:r>
            <a:endParaRPr lang="pt-BR" sz="20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,Sans-Serif" pitchFamily="34" charset="0"/>
              <a:buChar char="•"/>
            </a:pPr>
            <a:r>
              <a:rPr lang="pt-BR" sz="2800" b="1" dirty="0" err="1">
                <a:solidFill>
                  <a:srgbClr val="494949"/>
                </a:solidFill>
                <a:cs typeface="Segoe UI Light"/>
              </a:rPr>
              <a:t>Template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 para MCP:</a:t>
            </a:r>
            <a:endParaRPr lang="pt-BR" sz="2800">
              <a:solidFill>
                <a:srgbClr val="494949"/>
              </a:solidFill>
              <a:cs typeface="Segoe UI Light"/>
            </a:endParaRPr>
          </a:p>
          <a:p>
            <a:br>
              <a:rPr lang="pt-BR" sz="2000" dirty="0">
                <a:solidFill>
                  <a:srgbClr val="494949"/>
                </a:solidFill>
                <a:cs typeface="Segoe UI Light"/>
              </a:rPr>
            </a:b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    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dotnet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new 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mcp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–n 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SampleMCP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</a:t>
            </a:r>
          </a:p>
          <a:p>
            <a:pPr marL="571500" indent="-571500">
              <a:buFont typeface="Arial,Sans-Serif" pitchFamily="34" charset="0"/>
              <a:buChar char="•"/>
            </a:pPr>
            <a:endParaRPr lang="pt-BR" sz="1900" b="1">
              <a:solidFill>
                <a:srgbClr val="494949"/>
              </a:solidFill>
              <a:cs typeface="Segoe UI Ligh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83E3A1D2-A295-84AA-4909-A7CBFADF434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8551" y="1131217"/>
            <a:ext cx="1828800" cy="1828800"/>
          </a:xfrm>
          <a:prstGeom prst="rect">
            <a:avLst/>
          </a:prstGeom>
        </p:spPr>
      </p:pic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7223188C-6E5B-8CF8-A344-8A080C5DF6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522" y="4948907"/>
            <a:ext cx="1444859" cy="144485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F548AF5F-8B15-DE8F-348C-05329F397A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10522" y="3254814"/>
            <a:ext cx="1399296" cy="139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5166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7646A-2E67-CC59-5FC2-E7A103AC4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AAF2CEA3-94DB-24B3-0363-4543450C5DBE}"/>
              </a:ext>
            </a:extLst>
          </p:cNvPr>
          <p:cNvGrpSpPr/>
          <p:nvPr/>
        </p:nvGrpSpPr>
        <p:grpSpPr>
          <a:xfrm>
            <a:off x="-22281" y="-84137"/>
            <a:ext cx="12436475" cy="7078662"/>
            <a:chOff x="0" y="5843723"/>
            <a:chExt cx="12436475" cy="115080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24E51763-EB4E-EE7E-B063-5E00719420E2}"/>
                </a:ext>
              </a:extLst>
            </p:cNvPr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40C0862C-4598-7E87-0AB3-50164268B5A7}"/>
                </a:ext>
              </a:extLst>
            </p:cNvPr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11AE81-B8F0-2410-4695-590E70D6E5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44767CCD-5F3D-C214-59DB-D605063B4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1824672"/>
            <a:ext cx="4876800" cy="3008894"/>
          </a:xfrm>
        </p:spPr>
        <p:txBody>
          <a:bodyPr/>
          <a:lstStyle/>
          <a:p>
            <a:r>
              <a:rPr lang="pt-BR" dirty="0">
                <a:gradFill>
                  <a:gsLst>
                    <a:gs pos="6195">
                      <a:srgbClr val="FFFFFF"/>
                    </a:gs>
                    <a:gs pos="24779">
                      <a:srgbClr val="FFFFFF"/>
                    </a:gs>
                  </a:gsLst>
                  <a:lin ang="5400000" scaled="0"/>
                </a:gradFill>
                <a:cs typeface="Segoe UI"/>
              </a:rPr>
              <a:t>EXEMPLOS PRÁTICOS</a:t>
            </a:r>
            <a:endParaRPr lang="pt-BR" dirty="0"/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F92F3BCC-24D5-91A0-3B84-2C10399A3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6170" y="4784136"/>
            <a:ext cx="1399296" cy="1399296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ECD4508F-E3C7-3AA9-67E4-F6779D6AC2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857" y="4833566"/>
            <a:ext cx="1319133" cy="1319133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CB588520-ECF8-D1F7-DF2C-73BCB032DD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54732" y="4699325"/>
            <a:ext cx="1642229" cy="1642229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DA62650-D3F2-1DEC-A182-A28F4B640C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38952" y="4813793"/>
            <a:ext cx="1786195" cy="141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0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FC6B-44E8-A422-3E9E-46C8E1099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EE28B-BB14-A024-A5CB-03139135C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251853BA-BECF-F3FD-A95F-931652185A20}"/>
              </a:ext>
            </a:extLst>
          </p:cNvPr>
          <p:cNvSpPr>
            <a:spLocks noGrp="1"/>
          </p:cNvSpPr>
          <p:nvPr/>
        </p:nvSpPr>
        <p:spPr>
          <a:xfrm>
            <a:off x="992553" y="3617497"/>
            <a:ext cx="10483484" cy="6278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200" b="1" dirty="0">
                <a:solidFill>
                  <a:schemeClr val="bg1"/>
                </a:solidFill>
              </a:rPr>
              <a:t>github.com/renatogroffe/mcp_devreferencias-2025</a:t>
            </a:r>
            <a:endParaRPr lang="pt-BR" sz="2800" b="1" dirty="0">
              <a:solidFill>
                <a:schemeClr val="bg1"/>
              </a:solidFill>
            </a:endParaRPr>
          </a:p>
        </p:txBody>
      </p:sp>
      <p:pic>
        <p:nvPicPr>
          <p:cNvPr id="10" name="Imagem 9" descr="Ícone&#10;&#10;O conteúdo gerado por IA pode estar incorreto.">
            <a:extLst>
              <a:ext uri="{FF2B5EF4-FFF2-40B4-BE49-F238E27FC236}">
                <a16:creationId xmlns:a16="http://schemas.microsoft.com/office/drawing/2014/main" id="{F29A1EF7-74AF-8566-896C-68B8CE6D46C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9466" y="4609125"/>
            <a:ext cx="1757542" cy="1757542"/>
          </a:xfrm>
          <a:prstGeom prst="rect">
            <a:avLst/>
          </a:prstGeom>
        </p:spPr>
      </p:pic>
      <p:pic>
        <p:nvPicPr>
          <p:cNvPr id="12" name="Imagem 11" descr="Código QR&#10;&#10;O conteúdo gerado por IA pode estar incorreto.">
            <a:extLst>
              <a:ext uri="{FF2B5EF4-FFF2-40B4-BE49-F238E27FC236}">
                <a16:creationId xmlns:a16="http://schemas.microsoft.com/office/drawing/2014/main" id="{E662B295-F94E-DFDC-1769-DB3566D011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913" y="1121462"/>
            <a:ext cx="2404648" cy="2404648"/>
          </a:xfrm>
          <a:prstGeom prst="rect">
            <a:avLst/>
          </a:prstGeom>
        </p:spPr>
      </p:pic>
      <p:sp>
        <p:nvSpPr>
          <p:cNvPr id="3" name="Nosso Propsito">
            <a:extLst>
              <a:ext uri="{FF2B5EF4-FFF2-40B4-BE49-F238E27FC236}">
                <a16:creationId xmlns:a16="http://schemas.microsoft.com/office/drawing/2014/main" id="{391D16D6-1E3C-972D-E495-259DB4E0DDCB}"/>
              </a:ext>
            </a:extLst>
          </p:cNvPr>
          <p:cNvSpPr/>
          <p:nvPr/>
        </p:nvSpPr>
        <p:spPr>
          <a:xfrm>
            <a:off x="7970837" y="1887075"/>
            <a:ext cx="510010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056573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5E5AD-2090-69C8-FD96-59992D059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A5E69-6524-FF0E-A661-C4A596C26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55" y="296862"/>
            <a:ext cx="11889564" cy="917575"/>
          </a:xfrm>
        </p:spPr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Certificações Gratuitas em Segurança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D8D5F901-A3B9-4C2A-D3B3-8CD578CC404F}"/>
              </a:ext>
            </a:extLst>
          </p:cNvPr>
          <p:cNvSpPr>
            <a:spLocks noGrp="1"/>
          </p:cNvSpPr>
          <p:nvPr/>
        </p:nvSpPr>
        <p:spPr>
          <a:xfrm>
            <a:off x="1227137" y="5861998"/>
            <a:ext cx="9982201" cy="6832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dirty="0">
                <a:solidFill>
                  <a:schemeClr val="bg1"/>
                </a:solidFill>
              </a:rPr>
              <a:t>www.apisecuniversity.com/#courses</a:t>
            </a:r>
            <a:endParaRPr lang="pt-BR" sz="3200" b="1" dirty="0">
              <a:solidFill>
                <a:schemeClr val="bg1"/>
              </a:solidFill>
            </a:endParaRPr>
          </a:p>
        </p:txBody>
      </p:sp>
      <p:pic>
        <p:nvPicPr>
          <p:cNvPr id="9" name="Imagem 8" descr="Código QR&#10;&#10;O conteúdo gerado por IA pode estar incorreto.">
            <a:extLst>
              <a:ext uri="{FF2B5EF4-FFF2-40B4-BE49-F238E27FC236}">
                <a16:creationId xmlns:a16="http://schemas.microsoft.com/office/drawing/2014/main" id="{EE34E785-C649-0254-29C6-7C7E00FA0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37" y="1560075"/>
            <a:ext cx="3874373" cy="3874373"/>
          </a:xfrm>
          <a:prstGeom prst="rect">
            <a:avLst/>
          </a:prstGeom>
        </p:spPr>
      </p:pic>
      <p:pic>
        <p:nvPicPr>
          <p:cNvPr id="5" name="Imagem 4" descr="Placa azul com letras brancas em fundo preto&#10;&#10;O conteúdo gerado por IA pode estar incorreto.">
            <a:extLst>
              <a:ext uri="{FF2B5EF4-FFF2-40B4-BE49-F238E27FC236}">
                <a16:creationId xmlns:a16="http://schemas.microsoft.com/office/drawing/2014/main" id="{B94CD729-1B32-8CAC-902E-0BAD306F1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237" y="1363662"/>
            <a:ext cx="3874374" cy="387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3666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883852"/>
            <a:ext cx="4876800" cy="1181862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20767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3062</TotalTime>
  <Words>1025</Words>
  <Application>Microsoft Office PowerPoint</Application>
  <PresentationFormat>Personalizar</PresentationFormat>
  <Paragraphs>139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18</vt:i4>
      </vt:variant>
    </vt:vector>
  </HeadingPairs>
  <TitlesOfParts>
    <vt:vector size="30" baseType="lpstr">
      <vt:lpstr>Arial</vt:lpstr>
      <vt:lpstr>Arial,Sans-Serif</vt:lpstr>
      <vt:lpstr>Consolas</vt:lpstr>
      <vt:lpstr>Maven Pro Black</vt:lpstr>
      <vt:lpstr>Maven Pro Regular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Desenvolvendo MCP Servers Integrando com facilidade as mais variadas tecnologias a soluções de Inteligência Artificial!</vt:lpstr>
      <vt:lpstr>Renato Groffe</vt:lpstr>
      <vt:lpstr>Conteúdos desta apresentação</vt:lpstr>
      <vt:lpstr>Participe de nossas iniciativas gratuitas</vt:lpstr>
      <vt:lpstr>Certificações Gratuitas em Segurança</vt:lpstr>
      <vt:lpstr>Certificações Gratuitas em Segurança</vt:lpstr>
      <vt:lpstr>Agenda</vt:lpstr>
      <vt:lpstr>MCP: uma visão geral</vt:lpstr>
      <vt:lpstr>MCP: uma visão geral</vt:lpstr>
      <vt:lpstr>MCP: uma visão geral</vt:lpstr>
      <vt:lpstr>MCP: uma visão geral</vt:lpstr>
      <vt:lpstr>MCP: uma visão geral</vt:lpstr>
      <vt:lpstr>MCP: uma visão geral</vt:lpstr>
      <vt:lpstr>Implementando MCPs com .NET </vt:lpstr>
      <vt:lpstr>EXEMPLOS PRÁTICOS</vt:lpstr>
      <vt:lpstr>Conteúdos desta apresentação</vt:lpstr>
      <vt:lpstr>Certificações Gratuitas em Segurança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Renato Groffe</cp:lastModifiedBy>
  <cp:revision>1030</cp:revision>
  <dcterms:created xsi:type="dcterms:W3CDTF">2016-08-05T22:03:34Z</dcterms:created>
  <dcterms:modified xsi:type="dcterms:W3CDTF">2025-11-08T00:59:00Z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</Properties>
</file>